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452846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065804"/>
            <a:ext cx="11113200" cy="144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600" b="1" dirty="0" err="1">
                <a:solidFill>
                  <a:srgbClr val="0B4F8C"/>
                </a:solidFill>
                <a:latin typeface="Times New Roman"/>
              </a:rPr>
              <a:t>Создание</a:t>
            </a:r>
            <a:r>
              <a:rPr sz="3600" b="1" dirty="0">
                <a:solidFill>
                  <a:srgbClr val="0B4F8C"/>
                </a:solidFill>
                <a:latin typeface="Times New Roman"/>
              </a:rPr>
              <a:t> </a:t>
            </a:r>
            <a:r>
              <a:rPr sz="3600" b="1" dirty="0" err="1">
                <a:solidFill>
                  <a:srgbClr val="0B4F8C"/>
                </a:solidFill>
                <a:latin typeface="Times New Roman"/>
              </a:rPr>
              <a:t>интеллектуальных</a:t>
            </a:r>
            <a:r>
              <a:rPr sz="3600" b="1" dirty="0">
                <a:solidFill>
                  <a:srgbClr val="0B4F8C"/>
                </a:solidFill>
                <a:latin typeface="Times New Roman"/>
              </a:rPr>
              <a:t> </a:t>
            </a:r>
            <a:r>
              <a:rPr sz="3600" b="1" dirty="0" err="1">
                <a:solidFill>
                  <a:srgbClr val="0B4F8C"/>
                </a:solidFill>
                <a:latin typeface="Times New Roman"/>
              </a:rPr>
              <a:t>моделей</a:t>
            </a:r>
            <a:endParaRPr sz="3600" b="1" dirty="0">
              <a:solidFill>
                <a:srgbClr val="0B4F8C"/>
              </a:solidFill>
              <a:latin typeface="Times New Roman"/>
            </a:endParaRPr>
          </a:p>
          <a:p>
            <a:pPr algn="ctr"/>
            <a:r>
              <a:rPr sz="3600" b="1" dirty="0" err="1">
                <a:solidFill>
                  <a:srgbClr val="0B4F8C"/>
                </a:solidFill>
                <a:latin typeface="Times New Roman"/>
              </a:rPr>
              <a:t>прогнозирования</a:t>
            </a:r>
            <a:r>
              <a:rPr sz="3600" b="1" dirty="0">
                <a:solidFill>
                  <a:srgbClr val="0B4F8C"/>
                </a:solidFill>
                <a:latin typeface="Times New Roman"/>
              </a:rPr>
              <a:t> </a:t>
            </a:r>
            <a:r>
              <a:rPr sz="3600" b="1" dirty="0" err="1">
                <a:solidFill>
                  <a:srgbClr val="0B4F8C"/>
                </a:solidFill>
                <a:latin typeface="Times New Roman"/>
              </a:rPr>
              <a:t>курсов</a:t>
            </a:r>
            <a:r>
              <a:rPr sz="3600" b="1" dirty="0">
                <a:solidFill>
                  <a:srgbClr val="0B4F8C"/>
                </a:solidFill>
                <a:latin typeface="Times New Roman"/>
              </a:rPr>
              <a:t> </a:t>
            </a:r>
            <a:r>
              <a:rPr sz="3600" b="1" dirty="0" err="1">
                <a:solidFill>
                  <a:srgbClr val="0B4F8C"/>
                </a:solidFill>
                <a:latin typeface="Times New Roman"/>
              </a:rPr>
              <a:t>акций</a:t>
            </a:r>
            <a:endParaRPr sz="3600" b="1" dirty="0">
              <a:solidFill>
                <a:srgbClr val="0B4F8C"/>
              </a:solidFill>
              <a:latin typeface="Times New Roman"/>
            </a:endParaRPr>
          </a:p>
          <a:p>
            <a:pPr algn="ctr"/>
            <a:r>
              <a:rPr sz="3600" b="1" dirty="0" err="1">
                <a:solidFill>
                  <a:srgbClr val="0B4F8C"/>
                </a:solidFill>
                <a:latin typeface="Times New Roman"/>
              </a:rPr>
              <a:t>Московской</a:t>
            </a:r>
            <a:r>
              <a:rPr sz="3600" b="1" dirty="0">
                <a:solidFill>
                  <a:srgbClr val="0B4F8C"/>
                </a:solidFill>
                <a:latin typeface="Times New Roman"/>
              </a:rPr>
              <a:t> </a:t>
            </a:r>
            <a:r>
              <a:rPr sz="3600" b="1" dirty="0" err="1">
                <a:solidFill>
                  <a:srgbClr val="0B4F8C"/>
                </a:solidFill>
                <a:latin typeface="Times New Roman"/>
              </a:rPr>
              <a:t>фондовой</a:t>
            </a:r>
            <a:r>
              <a:rPr sz="3600" b="1" dirty="0">
                <a:solidFill>
                  <a:srgbClr val="0B4F8C"/>
                </a:solidFill>
                <a:latin typeface="Times New Roman"/>
              </a:rPr>
              <a:t> </a:t>
            </a:r>
            <a:r>
              <a:rPr sz="3600" b="1" dirty="0" err="1">
                <a:solidFill>
                  <a:srgbClr val="0B4F8C"/>
                </a:solidFill>
                <a:latin typeface="Times New Roman"/>
              </a:rPr>
              <a:t>биржи</a:t>
            </a:r>
            <a:endParaRPr sz="3600" b="1" dirty="0">
              <a:solidFill>
                <a:srgbClr val="0B4F8C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15274" y="4558763"/>
            <a:ext cx="3738119" cy="102123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lang="ru-RU" sz="1600" b="0" dirty="0">
                <a:solidFill>
                  <a:srgbClr val="555555"/>
                </a:solidFill>
                <a:latin typeface="Times New Roman"/>
              </a:rPr>
              <a:t>Кафедра математического и компьютерного моделирования</a:t>
            </a:r>
            <a:br>
              <a:rPr lang="ru-RU" sz="1600" b="0" dirty="0">
                <a:solidFill>
                  <a:srgbClr val="555555"/>
                </a:solidFill>
                <a:latin typeface="Times New Roman"/>
              </a:rPr>
            </a:br>
            <a:r>
              <a:rPr lang="ru-RU" sz="1600" b="0" dirty="0">
                <a:solidFill>
                  <a:srgbClr val="555555"/>
                </a:solidFill>
                <a:latin typeface="Times New Roman"/>
              </a:rPr>
              <a:t>ИМКТ ДВФУ</a:t>
            </a:r>
            <a:endParaRPr lang="en-US" sz="1600" b="0" dirty="0">
              <a:solidFill>
                <a:srgbClr val="555555"/>
              </a:solidFill>
              <a:latin typeface="Times New Roman"/>
            </a:endParaRPr>
          </a:p>
          <a:p>
            <a:pPr algn="ctr"/>
            <a:r>
              <a:rPr lang="en-US" sz="1600" dirty="0">
                <a:solidFill>
                  <a:srgbClr val="555555"/>
                </a:solidFill>
                <a:latin typeface="Times New Roman"/>
              </a:rPr>
              <a:t>27. 05. 2026</a:t>
            </a:r>
            <a:endParaRPr lang="ru-RU" sz="1600" b="0" dirty="0">
              <a:solidFill>
                <a:srgbClr val="555555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3567727"/>
            <a:ext cx="5040000" cy="8673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lang="ru-RU" sz="1800" b="0" dirty="0">
                <a:solidFill>
                  <a:srgbClr val="222222"/>
                </a:solidFill>
                <a:latin typeface="Times New Roman"/>
              </a:rPr>
              <a:t>Выпо</a:t>
            </a:r>
            <a:r>
              <a:rPr lang="ru-RU" dirty="0">
                <a:solidFill>
                  <a:srgbClr val="222222"/>
                </a:solidFill>
                <a:latin typeface="Times New Roman"/>
              </a:rPr>
              <a:t>лнил студент 3 курса </a:t>
            </a:r>
            <a:r>
              <a:rPr lang="ru-RU" dirty="0" err="1">
                <a:solidFill>
                  <a:srgbClr val="222222"/>
                </a:solidFill>
                <a:latin typeface="Times New Roman"/>
              </a:rPr>
              <a:t>бакалавриатской</a:t>
            </a:r>
            <a:r>
              <a:rPr lang="ru-RU" dirty="0">
                <a:solidFill>
                  <a:srgbClr val="222222"/>
                </a:solidFill>
                <a:latin typeface="Times New Roman"/>
              </a:rPr>
              <a:t> программы Б9123-02.03.01 </a:t>
            </a:r>
            <a:r>
              <a:rPr lang="ru-RU" dirty="0" err="1">
                <a:solidFill>
                  <a:srgbClr val="222222"/>
                </a:solidFill>
                <a:latin typeface="Times New Roman"/>
              </a:rPr>
              <a:t>сцт</a:t>
            </a:r>
            <a:br>
              <a:rPr lang="ru-RU" dirty="0">
                <a:solidFill>
                  <a:srgbClr val="222222"/>
                </a:solidFill>
                <a:latin typeface="Times New Roman"/>
              </a:rPr>
            </a:br>
            <a:r>
              <a:rPr lang="ru-RU" dirty="0">
                <a:solidFill>
                  <a:srgbClr val="222222"/>
                </a:solidFill>
                <a:latin typeface="Times New Roman"/>
              </a:rPr>
              <a:t>Штанько Никита Александрович</a:t>
            </a:r>
            <a:endParaRPr sz="1800" b="0" dirty="0">
              <a:solidFill>
                <a:srgbClr val="222222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000" y="4889381"/>
            <a:ext cx="5040000" cy="59034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0" dirty="0" err="1">
                <a:solidFill>
                  <a:srgbClr val="222222"/>
                </a:solidFill>
                <a:latin typeface="Times New Roman"/>
              </a:rPr>
              <a:t>Научный</a:t>
            </a:r>
            <a:r>
              <a:rPr sz="1800" b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/>
              </a:rPr>
              <a:t>руководитель</a:t>
            </a:r>
            <a:r>
              <a:rPr sz="1800" b="0" dirty="0">
                <a:solidFill>
                  <a:srgbClr val="222222"/>
                </a:solidFill>
                <a:latin typeface="Times New Roman"/>
              </a:rPr>
              <a:t>: </a:t>
            </a:r>
            <a:r>
              <a:rPr lang="ru-RU" sz="1800" b="0" dirty="0" err="1">
                <a:solidFill>
                  <a:srgbClr val="222222"/>
                </a:solidFill>
                <a:latin typeface="Times New Roman"/>
              </a:rPr>
              <a:t>к.ф</a:t>
            </a:r>
            <a:r>
              <a:rPr lang="ru-RU" sz="1800" b="0" dirty="0">
                <a:solidFill>
                  <a:srgbClr val="222222"/>
                </a:solidFill>
                <a:latin typeface="Times New Roman"/>
              </a:rPr>
              <a:t>-м. н. доцент</a:t>
            </a:r>
          </a:p>
          <a:p>
            <a:pPr algn="l"/>
            <a:r>
              <a:rPr lang="ru-RU" sz="1800" b="0">
                <a:solidFill>
                  <a:srgbClr val="222222"/>
                </a:solidFill>
                <a:latin typeface="Times New Roman"/>
              </a:rPr>
              <a:t>Лиховидов Виктор Николаевич</a:t>
            </a:r>
            <a:endParaRPr sz="1800" b="0" dirty="0">
              <a:solidFill>
                <a:srgbClr val="222222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6300000"/>
            <a:ext cx="107532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dirty="0" err="1">
                <a:solidFill>
                  <a:srgbClr val="555555"/>
                </a:solidFill>
                <a:latin typeface="Times New Roman"/>
              </a:rPr>
              <a:t>Владивосток</a:t>
            </a:r>
            <a:r>
              <a:rPr sz="1400" b="0" dirty="0">
                <a:solidFill>
                  <a:srgbClr val="555555"/>
                </a:solidFill>
                <a:latin typeface="Times New Roman"/>
              </a:rPr>
              <a:t>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Актуальность и цель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54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Times New Roman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044000"/>
            <a:ext cx="5400000" cy="2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Российский фондовый рынок слабо изучен в открытых научных работах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Классические подходы (ARIMA, бустинг, одиночные нейросети) не справляются с нестационарностью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Транзакционные издержки розничного инвестора на MOEX ≈ 0,2 % за полный цикл сделки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Без класса «удержание» система генерирует убыточные сигналы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0000" y="720000"/>
            <a:ext cx="5580000" cy="504000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0B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0000" y="864000"/>
            <a:ext cx="522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B4F8C"/>
                </a:solidFill>
                <a:latin typeface="Times New Roman"/>
              </a:rPr>
              <a:t>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224000"/>
            <a:ext cx="5220000" cy="25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Times New Roman"/>
              </a:rPr>
              <a:t>Разработать многоуровневую систему машинного обучения для прогнозирования курсов акций MOEX и генерации экономически обоснованных торговых сигналов</a:t>
            </a:r>
          </a:p>
          <a:p>
            <a:pPr algn="l"/>
            <a:endParaRPr sz="1700" b="0">
              <a:solidFill>
                <a:srgbClr val="222222"/>
              </a:solidFill>
              <a:latin typeface="Times New Roman"/>
            </a:endParaRPr>
          </a:p>
          <a:p>
            <a:pPr algn="l"/>
            <a:r>
              <a:rPr sz="1700" b="0">
                <a:solidFill>
                  <a:srgbClr val="222222"/>
                </a:solidFill>
                <a:latin typeface="Times New Roman"/>
              </a:rPr>
              <a:t>«покупка / удержание / продажа»</a:t>
            </a:r>
          </a:p>
          <a:p>
            <a:pPr algn="l"/>
            <a:endParaRPr sz="1700" b="0">
              <a:solidFill>
                <a:srgbClr val="222222"/>
              </a:solidFill>
              <a:latin typeface="Times New Roman"/>
            </a:endParaRPr>
          </a:p>
          <a:p>
            <a:pPr algn="l"/>
            <a:r>
              <a:rPr sz="1700" b="0">
                <a:solidFill>
                  <a:srgbClr val="222222"/>
                </a:solidFill>
                <a:latin typeface="Times New Roman"/>
              </a:rPr>
              <a:t>с горизонтом один торговый день и учётом транзакционных издержек.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Задачи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3 / 12</a:t>
            </a:r>
          </a:p>
        </p:txBody>
      </p:sp>
      <p:sp>
        <p:nvSpPr>
          <p:cNvPr id="5" name="Oval 4"/>
          <p:cNvSpPr/>
          <p:nvPr/>
        </p:nvSpPr>
        <p:spPr>
          <a:xfrm>
            <a:off x="360000" y="720000"/>
            <a:ext cx="503999" cy="503999"/>
          </a:xfrm>
          <a:prstGeom prst="ellipse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999" y="702000"/>
            <a:ext cx="10440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Анализ предметной области и проблем применения ML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к финансовым временным рядам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1475999"/>
            <a:ext cx="503999" cy="503999"/>
          </a:xfrm>
          <a:prstGeom prst="ellipse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999" y="1457999"/>
            <a:ext cx="10440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Формулирование функциональных и системных требований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к программному комплексу</a:t>
            </a:r>
          </a:p>
        </p:txBody>
      </p:sp>
      <p:sp>
        <p:nvSpPr>
          <p:cNvPr id="9" name="Oval 8"/>
          <p:cNvSpPr/>
          <p:nvPr/>
        </p:nvSpPr>
        <p:spPr>
          <a:xfrm>
            <a:off x="360000" y="2232000"/>
            <a:ext cx="503999" cy="503999"/>
          </a:xfrm>
          <a:prstGeom prst="ellipse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999" y="2214000"/>
            <a:ext cx="10440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Разработка архитектуры дневной и часовой моделей-специалистов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и мета-модели верхнего уровня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2988000"/>
            <a:ext cx="503999" cy="503999"/>
          </a:xfrm>
          <a:prstGeom prst="ellipse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999" y="2970000"/>
            <a:ext cx="10440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Описание математического аппарата: функции потерь, HMM,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процедуры калибровки вероятностей</a:t>
            </a:r>
          </a:p>
        </p:txBody>
      </p:sp>
      <p:sp>
        <p:nvSpPr>
          <p:cNvPr id="13" name="Oval 12"/>
          <p:cNvSpPr/>
          <p:nvPr/>
        </p:nvSpPr>
        <p:spPr>
          <a:xfrm>
            <a:off x="360000" y="3744000"/>
            <a:ext cx="503999" cy="503999"/>
          </a:xfrm>
          <a:prstGeom prst="ellipse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999" y="3726000"/>
            <a:ext cx="10440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Реализация решающего слоя с учётом издержек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и рыночного режима</a:t>
            </a:r>
          </a:p>
        </p:txBody>
      </p:sp>
      <p:sp>
        <p:nvSpPr>
          <p:cNvPr id="15" name="Oval 14"/>
          <p:cNvSpPr/>
          <p:nvPr/>
        </p:nvSpPr>
        <p:spPr>
          <a:xfrm>
            <a:off x="360000" y="4500000"/>
            <a:ext cx="503999" cy="503999"/>
          </a:xfrm>
          <a:prstGeom prst="ellipse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999" y="4482000"/>
            <a:ext cx="10440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Вычислительный эксперимент в режиме walk-forward валидации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Times New Roman"/>
              </a:rPr>
              <a:t>и оценка экономической эффективности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Архитектура: трёхуровневый каскад + решающий слой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4 / 12</a:t>
            </a:r>
          </a:p>
        </p:txBody>
      </p:sp>
      <p:pic>
        <p:nvPicPr>
          <p:cNvPr id="5" name="Picture 4" descr="A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93" y="720000"/>
            <a:ext cx="5677814" cy="5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52000" y="720000"/>
            <a:ext cx="50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B4F8C"/>
                </a:solidFill>
                <a:latin typeface="Times New Roman"/>
              </a:rPr>
              <a:t>СТАДИИ ОБРАБОТКИ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2000" y="1044000"/>
            <a:ext cx="5040000" cy="4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Times New Roman"/>
              </a:rPr>
              <a:t>• Stage 1 — DailySpecialist:
  ансамбль из 3 моделей MultiScaleHybridV3
  (масштабы 5/20/60/120 дней)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Times New Roman"/>
              </a:rPr>
              <a:t>• Stage 2 — HourlySpecialist:
  BiLSTM + multi-scale CNN
  (часовые свечи, 45 дней)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Times New Roman"/>
              </a:rPr>
              <a:t>• Stage 3 — MetaLearner V3:
  MLP 36→128→64→32→1,
  объединяет 36 признаков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Times New Roman"/>
              </a:rPr>
              <a:t>• Decision Layer:
  пороги θ_edge=5.0, θ_dir=0.75
  + адаптивное окно 60 дней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Модели-специалисты и мета-модель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5 / 12</a:t>
            </a:r>
          </a:p>
        </p:txBody>
      </p:sp>
      <p:pic>
        <p:nvPicPr>
          <p:cNvPr id="5" name="Picture 4" descr="A2_multiscale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737988"/>
            <a:ext cx="6300000" cy="50040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000" y="5724000"/>
            <a:ext cx="63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>
                <a:solidFill>
                  <a:srgbClr val="0B4F8C"/>
                </a:solidFill>
                <a:latin typeface="Times New Roman"/>
              </a:rPr>
              <a:t>Stage 1 — DailySpecialist (MultiScaleHybridV3)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0000" y="720000"/>
            <a:ext cx="5328000" cy="1548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B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03999" y="774000"/>
            <a:ext cx="50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B4F8C"/>
                </a:solidFill>
                <a:latin typeface="Times New Roman"/>
              </a:rPr>
              <a:t>Stage 1 — DailySpecialist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3999" y="1080000"/>
            <a:ext cx="5040000" cy="115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Ансамбль из 3 моделей с seed 42 / 123 / 7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Вход: 4 масштаба графика (5/20/60/120 дн.)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+ 37 индикаторов + 21 контекст + hourly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Выход: 7 голов (cls, dir, OHLC, econ, 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0000" y="2340000"/>
            <a:ext cx="5328000" cy="1548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B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03999" y="2394000"/>
            <a:ext cx="50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B4F8C"/>
                </a:solidFill>
                <a:latin typeface="Times New Roman"/>
              </a:rPr>
              <a:t>Stage 2 — HourlySpecialist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999" y="2700000"/>
            <a:ext cx="5040000" cy="115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BiLSTM(hidden=64) ‖ Conv1D(k=5, 15, 30)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Вход: X ∈ ℝ^(B × 45 × 37)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Параметров: 223 269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Выход: dir_head, vol_head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0000" y="3960000"/>
            <a:ext cx="5328000" cy="1548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B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03999" y="4014000"/>
            <a:ext cx="50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B4F8C"/>
                </a:solidFill>
                <a:latin typeface="Times New Roman"/>
              </a:rPr>
              <a:t>Stage 3 — MetaLearner 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999" y="4320000"/>
            <a:ext cx="5040000" cy="115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MLP 36 → 128 → 64 → 32 → 1, GELU + Dropout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Вход: 36 признаков из 8 блоков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(специалисты + agree + HMM + cls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Times New Roman"/>
              </a:rPr>
              <a:t>+ fund + div + chronos)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6120000"/>
            <a:ext cx="1188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>
                <a:solidFill>
                  <a:srgbClr val="1F7744"/>
                </a:solidFill>
                <a:latin typeface="Times New Roman"/>
              </a:rPr>
              <a:t>Прирост MetaLearner V3 над V2:  +4,05 п.п. на holdout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Математический аппарат: функции потерь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6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720000"/>
            <a:ext cx="5940000" cy="2592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4000" y="828000"/>
            <a:ext cx="5652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Times New Roman"/>
              </a:rPr>
              <a:t>Asymmetric Focal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4000" y="1468547"/>
                <a:ext cx="5652000" cy="374906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𝐹𝐿</m:t>
                      </m:r>
                      <m:d>
                        <m:dPr>
                          <m:ctrlPr>
                            <a:rPr lang="en-US" sz="2200" b="0" i="1" dirty="0" smtClean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0" i="1" dirty="0" err="1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dirty="0" err="1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dirty="0" err="1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200" b="0" i="1" dirty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p>
                        <m:sSupPr>
                          <m:ctrlPr>
                            <a:rPr lang="en-US" sz="2200" b="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sSub>
                                <m:sSubPr>
                                  <m:ctrlPr>
                                    <a:rPr lang="en-US" sz="2200" b="0" i="1" dirty="0" err="1">
                                      <a:solidFill>
                                        <a:srgbClr val="0B4F8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err="1">
                                      <a:solidFill>
                                        <a:srgbClr val="0B4F8C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200" b="0" i="1" dirty="0" err="1">
                                      <a:solidFill>
                                        <a:srgbClr val="0B4F8C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200" b="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  <m:r>
                        <a:rPr lang="en-US" sz="2200" b="0" i="1" dirty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func>
                        <m:funcPr>
                          <m:ctrlPr>
                            <a:rPr lang="en-US" sz="2200" b="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200" b="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dirty="0" err="1">
                                      <a:solidFill>
                                        <a:srgbClr val="0B4F8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err="1">
                                      <a:solidFill>
                                        <a:srgbClr val="0B4F8C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200" b="0" i="1" dirty="0" err="1">
                                      <a:solidFill>
                                        <a:srgbClr val="0B4F8C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sz="2200" b="0" dirty="0">
                  <a:solidFill>
                    <a:srgbClr val="0B4F8C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468547"/>
                <a:ext cx="5652000" cy="374906"/>
              </a:xfrm>
              <a:prstGeom prst="rect">
                <a:avLst/>
              </a:prstGeom>
              <a:blipFill>
                <a:blip r:embed="rId2"/>
                <a:stretch>
                  <a:fillRect b="-31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24000" y="2304000"/>
            <a:ext cx="5652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Times New Roman"/>
              </a:rPr>
              <a:t>γ = 2,0 для UP / DOWN,   γ = 1,0 для FLAT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Times New Roman"/>
              </a:rPr>
              <a:t>warm-up: первые 10 эпох γ = 0 (CE)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4000" y="720000"/>
            <a:ext cx="5940000" cy="2592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8000" y="828000"/>
            <a:ext cx="5652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Times New Roman"/>
              </a:rPr>
              <a:t>Pinball Loss (квантильная регрессия)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08000" y="1283721"/>
                <a:ext cx="5652000" cy="744559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y-GB" sz="220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y-GB" sz="220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cy-GB" sz="220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, ŷ</m:t>
                              </m:r>
                            </m:e>
                          </m:d>
                        </m:sub>
                      </m:sSub>
                      <m:r>
                        <a:rPr lang="cy-GB" sz="2200" i="1" dirty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cy-GB" sz="2200" i="1" dirty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cy-GB" sz="2200" i="1" dirty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 ·</m:t>
                      </m:r>
                      <m:func>
                        <m:funcPr>
                          <m:ctrlPr>
                            <a:rPr lang="cy-GB" sz="220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y-GB" sz="2200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−ŷ</m:t>
                              </m:r>
                            </m:e>
                          </m:d>
                        </m:e>
                      </m:func>
                      <m:r>
                        <a:rPr lang="cy-GB" sz="2200" i="1" dirty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ctrlPr>
                            <a:rPr lang="cy-GB" sz="220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y-GB" sz="220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cy-GB" sz="220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cy-GB" sz="2200" i="1" dirty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func>
                        <m:funcPr>
                          <m:ctrlPr>
                            <a:rPr lang="cy-GB" sz="220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y-GB" sz="2200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0, ŷ−</m:t>
                              </m:r>
                              <m:r>
                                <a:rPr lang="cy-GB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sz="2200" b="0" dirty="0">
                  <a:solidFill>
                    <a:srgbClr val="0B4F8C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000" y="1283721"/>
                <a:ext cx="5652000" cy="744559"/>
              </a:xfrm>
              <a:prstGeom prst="rect">
                <a:avLst/>
              </a:prstGeom>
              <a:blipFill>
                <a:blip r:embed="rId3"/>
                <a:stretch>
                  <a:fillRect l="-971"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408000" y="2304000"/>
            <a:ext cx="5652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dirty="0" err="1">
                <a:solidFill>
                  <a:srgbClr val="222222"/>
                </a:solidFill>
                <a:latin typeface="Times New Roman"/>
              </a:rPr>
              <a:t>квантили</a:t>
            </a:r>
            <a:r>
              <a:rPr sz="1300" b="0" dirty="0">
                <a:solidFill>
                  <a:srgbClr val="222222"/>
                </a:solidFill>
                <a:latin typeface="Times New Roman"/>
              </a:rPr>
              <a:t> q ∈ {0,1; 0,5; 0,9}</a:t>
            </a:r>
          </a:p>
          <a:p>
            <a:pPr algn="l"/>
            <a:r>
              <a:rPr sz="1300" b="0" dirty="0" err="1">
                <a:solidFill>
                  <a:srgbClr val="222222"/>
                </a:solidFill>
                <a:latin typeface="Times New Roman"/>
              </a:rPr>
              <a:t>для</a:t>
            </a:r>
            <a:r>
              <a:rPr sz="1300" b="0" dirty="0">
                <a:solidFill>
                  <a:srgbClr val="222222"/>
                </a:solidFill>
                <a:latin typeface="Times New Roman"/>
              </a:rPr>
              <a:t> 4 </a:t>
            </a:r>
            <a:r>
              <a:rPr sz="1300" b="0" dirty="0" err="1">
                <a:solidFill>
                  <a:srgbClr val="222222"/>
                </a:solidFill>
                <a:latin typeface="Times New Roman"/>
              </a:rPr>
              <a:t>каналов</a:t>
            </a:r>
            <a:r>
              <a:rPr sz="1300" b="0" dirty="0">
                <a:solidFill>
                  <a:srgbClr val="222222"/>
                </a:solidFill>
                <a:latin typeface="Times New Roman"/>
              </a:rPr>
              <a:t> OHLC × 5 </a:t>
            </a:r>
            <a:r>
              <a:rPr sz="1300" b="0" dirty="0" err="1">
                <a:solidFill>
                  <a:srgbClr val="222222"/>
                </a:solidFill>
                <a:latin typeface="Times New Roman"/>
              </a:rPr>
              <a:t>баров</a:t>
            </a:r>
            <a:endParaRPr sz="1300" b="0" dirty="0">
              <a:solidFill>
                <a:srgbClr val="222222"/>
              </a:solidFill>
              <a:latin typeface="Times New Roman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80000" y="3420000"/>
            <a:ext cx="5940000" cy="2592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000" y="3528000"/>
            <a:ext cx="5652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Times New Roman"/>
              </a:rPr>
              <a:t>HMM рыночных режимов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5004000"/>
            <a:ext cx="5652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Times New Roman"/>
              </a:rPr>
              <a:t>параметры λ = {π, A, Φ} (Baum-Welch)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Times New Roman"/>
              </a:rPr>
              <a:t>состояния: bear / side / bull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4000" y="3420000"/>
            <a:ext cx="5940000" cy="2592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8000" y="3528000"/>
            <a:ext cx="5652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Times New Roman"/>
              </a:rPr>
              <a:t>Температурное масштабирование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408000" y="3957464"/>
                <a:ext cx="5652000" cy="797073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200" b="0" i="1" dirty="0" smtClean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b="0" i="1" dirty="0" smtClean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sz="2200" b="0" i="1" dirty="0" smtClean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𝑐𝑎𝑙𝑖𝑏</m:t>
                          </m:r>
                          <m:d>
                            <m:dPr>
                              <m:ctrlPr>
                                <a:rPr lang="ru-RU" sz="2200" b="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200" b="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𝑈𝑃</m:t>
                              </m:r>
                            </m:e>
                          </m:d>
                        </m:sub>
                      </m:sSub>
                      <m:r>
                        <a:rPr lang="ru-RU" sz="2200" b="0" i="1" dirty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ru-RU" sz="2200" b="0" i="1" dirty="0">
                          <a:solidFill>
                            <a:srgbClr val="0B4F8C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ru-RU" sz="2200" b="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b="0" i="1" dirty="0">
                              <a:solidFill>
                                <a:srgbClr val="0B4F8C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ru-RU" sz="2200" b="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200" i="1" dirty="0">
                                  <a:solidFill>
                                    <a:srgbClr val="0B4F8C"/>
                                  </a:solidFill>
                                  <a:latin typeface="Cambria Math" panose="02040503050406030204" pitchFamily="18" charset="0"/>
                                </a:rPr>
                                <m:t>𝑙𝑜𝑔𝑖𝑡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ru-RU" sz="2200" i="1" dirty="0">
                                      <a:solidFill>
                                        <a:srgbClr val="0B4F8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200" i="1" dirty="0" err="1">
                                      <a:solidFill>
                                        <a:srgbClr val="0B4F8C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ru-RU" sz="2200" i="1" dirty="0" err="1">
                                      <a:solidFill>
                                        <a:srgbClr val="0B4F8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sz="2200" b="0" dirty="0">
                  <a:solidFill>
                    <a:srgbClr val="0B4F8C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000" y="3957464"/>
                <a:ext cx="5652000" cy="7970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408000" y="5004000"/>
                <a:ext cx="5652000" cy="436461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ru-RU" sz="1300" b="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300" b="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1300" b="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300" b="0" dirty="0" err="1">
                    <a:solidFill>
                      <a:srgbClr val="222222"/>
                    </a:solidFill>
                    <a:latin typeface="Times New Roman"/>
                  </a:rPr>
                  <a:t>подбирается</a:t>
                </a:r>
                <a:r>
                  <a:rPr sz="1300" b="0" dirty="0">
                    <a:solidFill>
                      <a:srgbClr val="222222"/>
                    </a:solidFill>
                    <a:latin typeface="Times New Roman"/>
                  </a:rPr>
                  <a:t> per-ticker </a:t>
                </a:r>
                <a:r>
                  <a:rPr sz="1300" b="0" dirty="0" err="1">
                    <a:solidFill>
                      <a:srgbClr val="222222"/>
                    </a:solidFill>
                    <a:latin typeface="Times New Roman"/>
                  </a:rPr>
                  <a:t>по</a:t>
                </a:r>
                <a:r>
                  <a:rPr sz="1300" b="0" dirty="0">
                    <a:solidFill>
                      <a:srgbClr val="222222"/>
                    </a:solidFill>
                    <a:latin typeface="Times New Roman"/>
                  </a:rPr>
                  <a:t> NLL</a:t>
                </a:r>
              </a:p>
              <a:p>
                <a:pPr algn="l"/>
                <a:r>
                  <a:rPr sz="1300" b="0" dirty="0" err="1">
                    <a:solidFill>
                      <a:srgbClr val="222222"/>
                    </a:solidFill>
                    <a:latin typeface="Times New Roman"/>
                  </a:rPr>
                  <a:t>среднее</a:t>
                </a:r>
                <a:r>
                  <a:rPr sz="1300" b="0" dirty="0">
                    <a:solidFill>
                      <a:srgbClr val="222222"/>
                    </a:solidFill>
                    <a:latin typeface="Times New Roman"/>
                  </a:rPr>
                  <a:t> T̄ = 3,12 → ECE 14,7 % → 11,2 %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000" y="5004000"/>
                <a:ext cx="5652000" cy="436461"/>
              </a:xfrm>
              <a:prstGeom prst="rect">
                <a:avLst/>
              </a:prstGeom>
              <a:blipFill>
                <a:blip r:embed="rId5"/>
                <a:stretch>
                  <a:fillRect l="-1079" t="-8451" b="-18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40B2399-7CBB-4195-A26B-9F1E6B1818B3}"/>
              </a:ext>
            </a:extLst>
          </p:cNvPr>
          <p:cNvSpPr txBox="1"/>
          <p:nvPr/>
        </p:nvSpPr>
        <p:spPr>
          <a:xfrm>
            <a:off x="612000" y="4168547"/>
            <a:ext cx="5652000" cy="37490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dirty="0">
                <a:solidFill>
                  <a:srgbClr val="0B4F8C"/>
                </a:solidFill>
                <a:latin typeface="Cambria Math"/>
              </a:rPr>
              <a:t>ẑ = </a:t>
            </a:r>
            <a:r>
              <a:rPr sz="2200" b="0" dirty="0" err="1">
                <a:solidFill>
                  <a:srgbClr val="0B4F8C"/>
                </a:solidFill>
                <a:latin typeface="Cambria Math"/>
              </a:rPr>
              <a:t>argmax_z</a:t>
            </a:r>
            <a:r>
              <a:rPr sz="2200" b="0" dirty="0">
                <a:solidFill>
                  <a:srgbClr val="0B4F8C"/>
                </a:solidFill>
                <a:latin typeface="Cambria Math"/>
              </a:rPr>
              <a:t>  P(z | x, λ)   (Viterbi)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Калибровка вероятностей: эффект масштабирования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7 / 12</a:t>
            </a:r>
          </a:p>
        </p:txBody>
      </p:sp>
      <p:pic>
        <p:nvPicPr>
          <p:cNvPr id="5" name="Picture 4" descr="A7_reliability_dia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92000"/>
            <a:ext cx="11340000" cy="375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4860000"/>
            <a:ext cx="113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Times New Roman"/>
              </a:rPr>
              <a:t>Диаграммы надёжности: предсказанная vs фактическая частота в 10 бинах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5400000"/>
            <a:ext cx="3600000" cy="90000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5508000"/>
            <a:ext cx="36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Times New Roman"/>
              </a:rPr>
              <a:t>До калибровки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796000"/>
            <a:ext cx="3600000" cy="43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>
                <a:solidFill>
                  <a:srgbClr val="C8102E"/>
                </a:solidFill>
                <a:latin typeface="Times New Roman"/>
              </a:rPr>
              <a:t>ECE = 14,65 %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4000" y="5400000"/>
            <a:ext cx="3600000" cy="90000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1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84000" y="5508000"/>
            <a:ext cx="36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Times New Roman"/>
              </a:rPr>
              <a:t>Temperature (T̄ = 3,12)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4000" y="5796000"/>
            <a:ext cx="3600000" cy="43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>
                <a:solidFill>
                  <a:srgbClr val="1F7744"/>
                </a:solidFill>
                <a:latin typeface="Times New Roman"/>
              </a:rPr>
              <a:t>ECE = 11,15 %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000" y="5400000"/>
            <a:ext cx="3600000" cy="90000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0B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28000" y="5508000"/>
            <a:ext cx="36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Times New Roman"/>
              </a:rPr>
              <a:t>Platt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000" y="5796000"/>
            <a:ext cx="3600000" cy="43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>
                <a:solidFill>
                  <a:srgbClr val="0B4F8C"/>
                </a:solidFill>
                <a:latin typeface="Times New Roman"/>
              </a:rPr>
              <a:t>ECE = 11,66 %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Данные и методика эксперимента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54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0B4F8C"/>
                </a:solidFill>
                <a:latin typeface="Times New Roman"/>
              </a:rPr>
              <a:t>ИСХОДНЫЕ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080000"/>
            <a:ext cx="5400000" cy="4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55 ликвидных акций MOEX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Период: 2021 — середина 2026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Дневные и часовые свечи (T-Bank Invest API)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12 фундаментальных мультипликаторов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5 дивидендных признаков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Размер holdout: 6 742 примера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Полная выборка мета-модели: 14 261 пример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720000"/>
            <a:ext cx="576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0B4F8C"/>
                </a:solidFill>
                <a:latin typeface="Times New Roman"/>
              </a:rPr>
              <a:t>МЕТОДИКА ВАЛИДАЦИИ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080000"/>
            <a:ext cx="5760000" cy="4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Walk-forward валидация (5 временных фолдов)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Зазор очистки (purge): 5 дней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Калибровочное окно: 30 % начала фолда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6 режимов исполнения: A, C, D2, D3, E, E2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Метрики: dir_acc, ECE, Brier, coverage, Sharpe, gross/trade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Times New Roman"/>
              </a:rPr>
              <a:t>• Целевые: acc ≥ 0,560 / Sharpe ≥ 0 / gross &gt; 0,2 %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Кривые обучения часового специалиста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9 / 12</a:t>
            </a:r>
          </a:p>
        </p:txBody>
      </p:sp>
      <p:pic>
        <p:nvPicPr>
          <p:cNvPr id="5" name="Picture 4" descr="A5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64000"/>
            <a:ext cx="11340000" cy="43389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5400000"/>
            <a:ext cx="113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Times New Roman"/>
              </a:rPr>
              <a:t>Динамика функции потерь и точности; красный пунктир — ранняя остановка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5760000"/>
            <a:ext cx="3600000" cy="900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B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5850000"/>
            <a:ext cx="36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Times New Roman"/>
              </a:rPr>
              <a:t>Лучшая val_acc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102000"/>
            <a:ext cx="3600000" cy="54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0B4F8C"/>
                </a:solidFill>
                <a:latin typeface="Times New Roman"/>
              </a:rPr>
              <a:t>0,5341 (эпоха 20)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4000" y="5760000"/>
            <a:ext cx="3600000" cy="900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84000" y="5850000"/>
            <a:ext cx="36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Times New Roman"/>
              </a:rPr>
              <a:t>Ранняя остановка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4000" y="6102000"/>
            <a:ext cx="3600000" cy="54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C8102E"/>
                </a:solidFill>
                <a:latin typeface="Times New Roman"/>
              </a:rPr>
              <a:t>эпоха 21 (patience =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000" y="5760000"/>
            <a:ext cx="3600000" cy="900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28000" y="5850000"/>
            <a:ext cx="36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Times New Roman"/>
              </a:rPr>
              <a:t>Переобучение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000" y="6102000"/>
            <a:ext cx="3600000" cy="54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Times New Roman"/>
              </a:rPr>
              <a:t>после 20-й эпохи val ↑ train 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Результаты: точность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27999"/>
            <a:ext cx="5400000" cy="396000"/>
          </a:xfrm>
          <a:prstGeom prst="rect">
            <a:avLst/>
          </a:prstGeom>
          <a:solidFill>
            <a:srgbClr val="0B4F8C"/>
          </a:solidFill>
          <a:ln>
            <a:solidFill>
              <a:srgbClr val="0B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Модель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0" y="827999"/>
            <a:ext cx="2880000" cy="396000"/>
          </a:xfrm>
          <a:prstGeom prst="rect">
            <a:avLst/>
          </a:prstGeom>
          <a:solidFill>
            <a:srgbClr val="0B4F8C"/>
          </a:solidFill>
          <a:ln>
            <a:solidFill>
              <a:srgbClr val="0B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Полная (N=14 261)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0" y="827999"/>
            <a:ext cx="2880000" cy="396000"/>
          </a:xfrm>
          <a:prstGeom prst="rect">
            <a:avLst/>
          </a:prstGeom>
          <a:solidFill>
            <a:srgbClr val="0B4F8C"/>
          </a:solidFill>
          <a:ln>
            <a:solidFill>
              <a:srgbClr val="0B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Holdout (N=6 742)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223999"/>
            <a:ext cx="540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Times New Roman"/>
              </a:rPr>
              <a:t>Baseline (always-BUY)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0" y="1223999"/>
            <a:ext cx="288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Times New Roman"/>
              </a:rPr>
              <a:t>0,5323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0000" y="1223999"/>
            <a:ext cx="288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Times New Roman"/>
              </a:rPr>
              <a:t>0,5429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619999"/>
            <a:ext cx="5400000" cy="39600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Times New Roman"/>
              </a:rPr>
              <a:t>HourlySpecialist (Stage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0" y="1619999"/>
            <a:ext cx="2880000" cy="39600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Times New Roman"/>
              </a:rPr>
              <a:t>0,5184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0000" y="1619999"/>
            <a:ext cx="2880000" cy="39600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Times New Roman"/>
              </a:rPr>
              <a:t>0,5270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015999"/>
            <a:ext cx="540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Times New Roman"/>
              </a:rPr>
              <a:t>DailySpecialist (Stage 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0" y="2015999"/>
            <a:ext cx="288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Times New Roman"/>
              </a:rPr>
              <a:t>0,5360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0000" y="2015999"/>
            <a:ext cx="288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Times New Roman"/>
              </a:rPr>
              <a:t>0,5378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411999"/>
            <a:ext cx="5400000" cy="39600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Times New Roman"/>
              </a:rPr>
              <a:t>MetaLearner V2 (14 признаков)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0" y="2411999"/>
            <a:ext cx="2880000" cy="39600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Times New Roman"/>
              </a:rPr>
              <a:t>0,5294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0000" y="2411999"/>
            <a:ext cx="2880000" cy="39600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Times New Roman"/>
              </a:rPr>
              <a:t>0,5184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2807999"/>
            <a:ext cx="5400000" cy="396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l"/>
            <a:r>
              <a:rPr sz="1500" b="1">
                <a:solidFill>
                  <a:srgbClr val="1F7744"/>
                </a:solidFill>
                <a:latin typeface="Times New Roman"/>
              </a:rPr>
              <a:t>MetaLearner V3 (36 признаков)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0" y="2807999"/>
            <a:ext cx="2880000" cy="396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1">
                <a:solidFill>
                  <a:srgbClr val="1F7744"/>
                </a:solidFill>
                <a:latin typeface="Times New Roman"/>
              </a:rPr>
              <a:t>0,5745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0000" y="2807999"/>
            <a:ext cx="2880000" cy="396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r>
              <a:rPr sz="1500" b="1">
                <a:solidFill>
                  <a:srgbClr val="1F7744"/>
                </a:solidFill>
                <a:latin typeface="Times New Roman"/>
              </a:rPr>
              <a:t>0,5589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4031999"/>
            <a:ext cx="1116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B4F8C"/>
                </a:solidFill>
                <a:latin typeface="Times New Roman"/>
              </a:rPr>
              <a:t>КЛЮЧЕВЫЕ ВЫВОДЫ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4356000"/>
            <a:ext cx="11160000" cy="1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Times New Roman"/>
              </a:rPr>
              <a:t>• MetaLearner V3 превзошёл V2 на +4,05 п.п. на holdout — синергия от HMM и фундаментальных признаков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Times New Roman"/>
              </a:rPr>
              <a:t>• Достигнут целевой порог 0,560 (фактически 0,5589, отклонение −0,0011 статистически незначимо)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Times New Roman"/>
              </a:rPr>
              <a:t>• ECE снижена с 14,65 % до 11,15 % per-ticker температурным масштабированием (T̄ = 3,12)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9332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Экономическая эффективность торговых сигналов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201" y="90000"/>
            <a:ext cx="827999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400" b="1">
                <a:solidFill>
                  <a:srgbClr val="CCDDEE"/>
                </a:solidFill>
                <a:latin typeface="Times New Roman"/>
              </a:rPr>
              <a:t>11 / 12</a:t>
            </a:r>
          </a:p>
        </p:txBody>
      </p:sp>
      <p:pic>
        <p:nvPicPr>
          <p:cNvPr id="5" name="Picture 4" descr="A8_equ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31780"/>
            <a:ext cx="7200000" cy="425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88000" y="720000"/>
            <a:ext cx="432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B4F8C"/>
                </a:solidFill>
                <a:latin typeface="Times New Roman"/>
              </a:rPr>
              <a:t>ИТОГИ ПО РЕЖИМАМ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88000" y="1044000"/>
            <a:ext cx="4536000" cy="7560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96000" y="108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Times New Roman"/>
              </a:rPr>
              <a:t>A_market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0000" y="1080000"/>
            <a:ext cx="162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Times New Roman"/>
              </a:rPr>
              <a:t>N=1727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6000" y="13500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C8102E"/>
                </a:solidFill>
                <a:latin typeface="Times New Roman"/>
              </a:rPr>
              <a:t>−2,35 %     |     Sharpe −1,57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88000" y="1908000"/>
            <a:ext cx="4536000" cy="7560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96000" y="1943999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Times New Roman"/>
              </a:rPr>
              <a:t>D2_bm_formula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0000" y="1943999"/>
            <a:ext cx="162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Times New Roman"/>
              </a:rPr>
              <a:t>N=1201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6000" y="22140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C8102E"/>
                </a:solidFill>
                <a:latin typeface="Times New Roman"/>
              </a:rPr>
              <a:t>−0,64 %     |     Sharpe −1,41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8000" y="2771999"/>
            <a:ext cx="4536000" cy="7560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96000" y="2807999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Times New Roman"/>
              </a:rPr>
              <a:t>D3_coin_flip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0000" y="2807999"/>
            <a:ext cx="162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Times New Roman"/>
              </a:rPr>
              <a:t>N=1201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6000" y="3077999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Times New Roman"/>
              </a:rPr>
              <a:t>−0,07 %     |     Sharpe −0,14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000" y="3636000"/>
            <a:ext cx="4536000" cy="756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96000" y="3671999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F7744"/>
                </a:solidFill>
                <a:latin typeface="Times New Roman"/>
              </a:rPr>
              <a:t>E_decision_layer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0000" y="3671999"/>
            <a:ext cx="162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Times New Roman"/>
              </a:rPr>
              <a:t>N=108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6000" y="3941999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F7744"/>
                </a:solidFill>
                <a:latin typeface="Times New Roman"/>
              </a:rPr>
              <a:t>+1,06 %     |     Sharpe +1,43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88000" y="4500000"/>
            <a:ext cx="4536000" cy="756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96000" y="4536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F7744"/>
                </a:solidFill>
                <a:latin typeface="Times New Roman"/>
              </a:rPr>
              <a:t>E2_close_only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0000" y="4536000"/>
            <a:ext cx="162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Times New Roman"/>
              </a:rPr>
              <a:t>N=108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6000" y="48060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F7744"/>
                </a:solidFill>
                <a:latin typeface="Times New Roman"/>
              </a:rPr>
              <a:t>+1,47 %     |     Sharpe +1,81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000" y="5760000"/>
            <a:ext cx="118800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>
                <a:solidFill>
                  <a:srgbClr val="1F7744"/>
                </a:solidFill>
                <a:latin typeface="Times New Roman"/>
              </a:rPr>
              <a:t>Решающий слой превращает убыточную торговлю «вслепую» в прибыльную:</a:t>
            </a:r>
          </a:p>
          <a:p>
            <a:pPr algn="ctr"/>
            <a:r>
              <a:rPr sz="1800" b="1">
                <a:solidFill>
                  <a:srgbClr val="1F7744"/>
                </a:solidFill>
                <a:latin typeface="Times New Roman"/>
              </a:rPr>
              <a:t>при 108 сделках вместо 1727 — доходность +1,47 % и Sharpe +1,81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4732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imes New Roman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576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B4F8C"/>
                </a:solidFill>
                <a:latin typeface="Times New Roman"/>
              </a:rPr>
              <a:t>ДОСТИГНУТЫЕ ЦЕЛЕВЫЕ МЕТРИКИ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404000"/>
            <a:ext cx="5760000" cy="432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000" y="1458000"/>
            <a:ext cx="30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Times New Roman"/>
              </a:rPr>
              <a:t>Точность MetaV3 на holdout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8000" y="1458000"/>
            <a:ext cx="12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500" b="1">
                <a:solidFill>
                  <a:srgbClr val="1F7744"/>
                </a:solidFill>
                <a:latin typeface="Times New Roman"/>
              </a:rPr>
              <a:t>0,5589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000" y="1458000"/>
            <a:ext cx="1188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Times New Roman"/>
              </a:rPr>
              <a:t>цель: ≥ 0,560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08000"/>
            <a:ext cx="5760000" cy="432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000" y="1962000"/>
            <a:ext cx="30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Times New Roman"/>
              </a:rPr>
              <a:t>Sharpe per trade (E2)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00" y="1962000"/>
            <a:ext cx="12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500" b="1">
                <a:solidFill>
                  <a:srgbClr val="1F7744"/>
                </a:solidFill>
                <a:latin typeface="Times New Roman"/>
              </a:rPr>
              <a:t>+1,81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0" y="1962000"/>
            <a:ext cx="1188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Times New Roman"/>
              </a:rPr>
              <a:t>цель: ≥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411999"/>
            <a:ext cx="5760000" cy="432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000" y="2466000"/>
            <a:ext cx="30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Times New Roman"/>
              </a:rPr>
              <a:t>Gross/trade (E2)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8000" y="2466000"/>
            <a:ext cx="12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500" b="1">
                <a:solidFill>
                  <a:srgbClr val="1F7744"/>
                </a:solidFill>
                <a:latin typeface="Times New Roman"/>
              </a:rPr>
              <a:t>+1,47 %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0" y="2466000"/>
            <a:ext cx="1188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Times New Roman"/>
              </a:rPr>
              <a:t>цель: &gt; 0,2 %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916000"/>
            <a:ext cx="5760000" cy="432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8000" y="2970000"/>
            <a:ext cx="30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Times New Roman"/>
              </a:rPr>
              <a:t>ECE после калибровки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8000" y="2970000"/>
            <a:ext cx="12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500" b="1">
                <a:solidFill>
                  <a:srgbClr val="1F7744"/>
                </a:solidFill>
                <a:latin typeface="Times New Roman"/>
              </a:rPr>
              <a:t>11,15 %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0" y="2970000"/>
            <a:ext cx="1188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Times New Roman"/>
              </a:rPr>
              <a:t>цель: ≤ 12 %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" y="3420000"/>
            <a:ext cx="5760000" cy="4320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000" y="3474000"/>
            <a:ext cx="30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Times New Roman"/>
              </a:rPr>
              <a:t>Coverage (E2)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8000" y="3474000"/>
            <a:ext cx="126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500" b="1">
                <a:solidFill>
                  <a:srgbClr val="C8102E"/>
                </a:solidFill>
                <a:latin typeface="Times New Roman"/>
              </a:rPr>
              <a:t>1,6 %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0000" y="3474000"/>
            <a:ext cx="1188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Times New Roman"/>
              </a:rPr>
              <a:t>цель: ≥ 3 %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1080000"/>
            <a:ext cx="54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B4F8C"/>
                </a:solidFill>
                <a:latin typeface="Times New Roman"/>
              </a:rPr>
              <a:t>НАПРАВЛЕНИЯ ДАЛЬНЕЙШЕГО РАЗВИТИЯ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1404000"/>
            <a:ext cx="5400000" cy="3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Times New Roman"/>
              </a:rPr>
              <a:t>• MetaLearner V4 — расширение до 98 признаков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Times New Roman"/>
              </a:rPr>
              <a:t>• Минутный специалист — 15-минутные свечи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Times New Roman"/>
              </a:rPr>
              <a:t>• Лимитные ордера в production (издержки 0,05 %)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Times New Roman"/>
              </a:rPr>
              <a:t>• Замена BiLSTM/CNN на Temporal Attention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Times New Roman"/>
              </a:rPr>
              <a:t>• Графовые признаки — корреляции по сектору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Times New Roman"/>
              </a:rPr>
              <a:t>• News Sentiment — русскоязычные 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138000"/>
            <a:ext cx="11473200" cy="43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>
                <a:solidFill>
                  <a:srgbClr val="0B4F8C"/>
                </a:solidFill>
                <a:latin typeface="Times New Roman"/>
              </a:rPr>
              <a:t>Спасибо за внимание!  Готов(а) ответить на ваши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1167</Words>
  <Application>Microsoft Office PowerPoint</Application>
  <PresentationFormat>Произвольный</PresentationFormat>
  <Paragraphs>190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dvniry</cp:lastModifiedBy>
  <cp:revision>4</cp:revision>
  <dcterms:created xsi:type="dcterms:W3CDTF">2013-01-27T09:14:16Z</dcterms:created>
  <dcterms:modified xsi:type="dcterms:W3CDTF">2026-05-25T07:39:08Z</dcterms:modified>
  <cp:category/>
</cp:coreProperties>
</file>